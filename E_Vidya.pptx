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230" r:id="rId1"/>
  </p:sldMasterIdLst>
  <p:notesMasterIdLst>
    <p:notesMasterId r:id="rId12"/>
  </p:notesMasterIdLst>
  <p:sldIdLst>
    <p:sldId id="483" r:id="rId2"/>
    <p:sldId id="470" r:id="rId3"/>
    <p:sldId id="478" r:id="rId4"/>
    <p:sldId id="482" r:id="rId5"/>
    <p:sldId id="486" r:id="rId6"/>
    <p:sldId id="485" r:id="rId7"/>
    <p:sldId id="488" r:id="rId8"/>
    <p:sldId id="487" r:id="rId9"/>
    <p:sldId id="473" r:id="rId10"/>
    <p:sldId id="468" r:id="rId11"/>
  </p:sldIdLst>
  <p:sldSz cx="12192000" cy="6858000"/>
  <p:notesSz cx="6954838" cy="93091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anose="020F050202020403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1180"/>
    <a:srgbClr val="FF3300"/>
    <a:srgbClr val="FAFAF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0147" autoAdjust="0"/>
    <p:restoredTop sz="94434" autoAdjust="0"/>
  </p:normalViewPr>
  <p:slideViewPr>
    <p:cSldViewPr snapToGrid="0">
      <p:cViewPr varScale="1">
        <p:scale>
          <a:sx n="96" d="100"/>
          <a:sy n="96" d="100"/>
        </p:scale>
        <p:origin x="398" y="6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8938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91A9256-F9C8-48F3-9246-288820D1979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608C6F2-4266-4213-8BF4-8EA0CDC970F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940175" y="0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5AA20220-E8D3-4BE8-9E9D-D5B982467646}" type="datetimeFigureOut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8B13A30F-9520-44F4-81B2-1BCC447DE50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63638"/>
            <a:ext cx="5583238" cy="31416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930" tIns="46465" rIns="92930" bIns="46465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4266252B-3FF1-4DA9-A03B-C61619A4108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95325" y="4479925"/>
            <a:ext cx="5564188" cy="3665538"/>
          </a:xfrm>
          <a:prstGeom prst="rect">
            <a:avLst/>
          </a:prstGeom>
        </p:spPr>
        <p:txBody>
          <a:bodyPr vert="horz" lIns="92930" tIns="46465" rIns="92930" bIns="46465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77DEBF4-55D6-4B92-B2C6-9B4374F6BE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842375"/>
            <a:ext cx="3013075" cy="466725"/>
          </a:xfrm>
          <a:prstGeom prst="rect">
            <a:avLst/>
          </a:prstGeom>
        </p:spPr>
        <p:txBody>
          <a:bodyPr vert="horz" lIns="92930" tIns="46465" rIns="92930" bIns="46465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8A1201-67BC-4B63-9687-0E19225243E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940175" y="8842375"/>
            <a:ext cx="3013075" cy="466725"/>
          </a:xfrm>
          <a:prstGeom prst="rect">
            <a:avLst/>
          </a:prstGeom>
        </p:spPr>
        <p:txBody>
          <a:bodyPr vert="horz" wrap="square" lIns="92930" tIns="46465" rIns="92930" bIns="46465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36A1ABE2-8A9C-4371-A477-2D85B6949AD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07194599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541985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B56918-D4B3-422F-BFF9-D10393CB12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B984284-C742-4CDE-BCD1-55F1EACCE4BD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82B6A4-3E11-4AFE-97A2-755EDA1DD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2D3FD1-471F-422B-AFB8-CC8FCE5D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FAC8F4A-8BCF-4389-A68F-ABDBB8A3846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8394844"/>
      </p:ext>
    </p:extLst>
  </p:cSld>
  <p:clrMapOvr>
    <a:masterClrMapping/>
  </p:clrMapOvr>
  <p:transition spd="slow">
    <p:blinds dir="vert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DB27E7-0E5F-45FD-B9BC-82F6ACE505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400D6F-81A6-4CA0-8B3C-34372C62B661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E0F7A6-907E-418D-ABF6-CE0D106D25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36D880-0EA6-4FCD-A723-C393235639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15EC703-C051-410C-8BA1-62752E291E8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59887381"/>
      </p:ext>
    </p:extLst>
  </p:cSld>
  <p:clrMapOvr>
    <a:masterClrMapping/>
  </p:clrMapOvr>
  <p:transition spd="slow">
    <p:blinds dir="vert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DDAA96-8682-4C88-9622-87E036243D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63234D9-D072-4920-821D-BED01FCB7247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C29450-6172-4A34-B37F-64FAD195B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3A622E-84FA-417F-BD5A-BE81A48998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9A17B78-0E85-43B3-B804-1DD2F629C18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03603393"/>
      </p:ext>
    </p:extLst>
  </p:cSld>
  <p:clrMapOvr>
    <a:masterClrMapping/>
  </p:clrMapOvr>
  <p:transition spd="slow">
    <p:blinds dir="vert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0375BCC-EEE9-412B-A532-7314FE84B0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A9FD15-50EB-4E55-A7AC-5D569B5B3C80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1E5CB5DD-B599-4B4E-BFCE-CB9E35FBCE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7CE3315-9445-4BB5-89D3-235E587ABF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10EC4D6-2A5D-45C1-86E3-8BE19A62D20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91645173"/>
      </p:ext>
    </p:extLst>
  </p:cSld>
  <p:clrMapOvr>
    <a:masterClrMapping/>
  </p:clrMapOvr>
  <p:transition spd="slow">
    <p:blinds dir="vert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530AD5EF-C609-4119-B375-3771413B48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50B61E-D197-4188-943F-30B5936FC2F9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88A9EBF0-B7B0-4583-92AB-A3431DE628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83BC57B-A7E4-4277-9D46-5794964972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F6C894-F542-45DE-85A4-2725CE92499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670619855"/>
      </p:ext>
    </p:extLst>
  </p:cSld>
  <p:clrMapOvr>
    <a:masterClrMapping/>
  </p:clrMapOvr>
  <p:transition spd="slow">
    <p:blinds dir="vert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3">
            <a:extLst>
              <a:ext uri="{FF2B5EF4-FFF2-40B4-BE49-F238E27FC236}">
                <a16:creationId xmlns:a16="http://schemas.microsoft.com/office/drawing/2014/main" id="{41D81C82-41E3-4C7D-816C-58F99A17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BD41E7F-6671-4D2D-B6AD-20E102447CE3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21C23C57-193A-4FFE-AF84-5DDAD50453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00AA421-04F3-46DC-9A65-181848BF7F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89318FD-4EEC-4C57-A972-0B24B85155E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74775401"/>
      </p:ext>
    </p:extLst>
  </p:cSld>
  <p:clrMapOvr>
    <a:masterClrMapping/>
  </p:clrMapOvr>
  <p:transition spd="slow">
    <p:blinds dir="vert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>
            <a:extLst>
              <a:ext uri="{FF2B5EF4-FFF2-40B4-BE49-F238E27FC236}">
                <a16:creationId xmlns:a16="http://schemas.microsoft.com/office/drawing/2014/main" id="{3218A1C0-5E86-44FA-96CE-D0C3A0911C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AE11748-68B0-424D-A128-8EE4A2F1567E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3" name="Footer Placeholder 4">
            <a:extLst>
              <a:ext uri="{FF2B5EF4-FFF2-40B4-BE49-F238E27FC236}">
                <a16:creationId xmlns:a16="http://schemas.microsoft.com/office/drawing/2014/main" id="{DC30598B-A85E-40F2-B0F9-CC04D8E3F3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20ADC7C-B221-49C5-9757-EBEBB0F920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F195F4C-44D2-4F45-A0AC-21646A9D27B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9266658"/>
      </p:ext>
    </p:extLst>
  </p:cSld>
  <p:clrMapOvr>
    <a:masterClrMapping/>
  </p:clrMapOvr>
  <p:transition spd="slow">
    <p:blinds dir="vert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D79DD4CF-015F-4F62-A63C-9D088FAC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094E8B7-7DCF-4AE2-ACBE-26DA6EBB7347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9F56518C-25E4-4791-80CF-9603927DE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46B593C-043B-40F1-98DA-B1906E58EB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D429D7-E526-4101-969E-B40B8D8E48C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8220043"/>
      </p:ext>
    </p:extLst>
  </p:cSld>
  <p:clrMapOvr>
    <a:masterClrMapping/>
  </p:clrMapOvr>
  <p:transition spd="slow">
    <p:blinds dir="vert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B5A9D87-E05A-4D16-A703-1E97A8BA2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58AEAC7-C2C3-44AF-AB2E-36A1774D5378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0E92F1C-94F6-478A-96CC-20CEB3BF82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1659F05-47D4-46F4-A7AC-A02AE18D3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66FD7F1-16F9-4E12-83AD-C4245146BA5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99370667"/>
      </p:ext>
    </p:extLst>
  </p:cSld>
  <p:clrMapOvr>
    <a:masterClrMapping/>
  </p:clrMapOvr>
  <p:transition spd="slow">
    <p:blinds dir="vert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0AAE25-87DE-4998-B6CE-F47978987C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702336F-006F-49C3-8FF0-2416E12056BA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A9861B-6D3E-4215-A3D0-377EC12DA5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C5A02C-FFC9-401E-8BCD-D06F65B16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3CA2AFE-CAB8-4467-80DC-C3A4FC1E2718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6143411"/>
      </p:ext>
    </p:extLst>
  </p:cSld>
  <p:clrMapOvr>
    <a:masterClrMapping/>
  </p:clrMapOvr>
  <p:transition spd="slow">
    <p:blinds dir="vert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4B4638-3310-4031-B55D-BE295B1A7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C683BFA-96BB-4329-BF2F-32F59AFA4E79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F7728E-C01A-4686-AD71-F7B61E8209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C71C28-1E00-4F0A-8B9D-A0E460685E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DD8426-6957-4B5B-B927-2BE994D1B7C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9399607"/>
      </p:ext>
    </p:extLst>
  </p:cSld>
  <p:clrMapOvr>
    <a:masterClrMapping/>
  </p:clrMapOvr>
  <p:transition spd="slow">
    <p:blinds dir="vert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>
            <a:extLst>
              <a:ext uri="{FF2B5EF4-FFF2-40B4-BE49-F238E27FC236}">
                <a16:creationId xmlns:a16="http://schemas.microsoft.com/office/drawing/2014/main" id="{D9A3E1B4-65C6-415A-9681-D05B402B0E8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0C566853-DAEB-4CB7-818F-723C37230FE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04BD739-9829-4F69-BC53-75013DDD185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246687D5-4D00-474F-82B8-FCFBD98170F5}" type="datetime1">
              <a:rPr lang="en-US"/>
              <a:pPr>
                <a:defRPr/>
              </a:pPr>
              <a:t>8/7/2026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5F0A4C-9308-45AA-A1AA-7B038DC01F2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2AE0DB-89DF-4A35-9269-9E85DEA2E3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</a:defRPr>
            </a:lvl1pPr>
          </a:lstStyle>
          <a:p>
            <a:pPr>
              <a:defRPr/>
            </a:pPr>
            <a:fld id="{ADBF7CE3-29D9-4203-A481-45960E76618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pic>
        <p:nvPicPr>
          <p:cNvPr id="1031" name="Picture 7">
            <a:extLst>
              <a:ext uri="{FF2B5EF4-FFF2-40B4-BE49-F238E27FC236}">
                <a16:creationId xmlns:a16="http://schemas.microsoft.com/office/drawing/2014/main" id="{102663E2-6C69-49E4-9FEB-A0ED3DD955FD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153025"/>
            <a:ext cx="12192000" cy="1704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4231" r:id="rId1"/>
    <p:sldLayoutId id="2147484232" r:id="rId2"/>
    <p:sldLayoutId id="2147484233" r:id="rId3"/>
    <p:sldLayoutId id="2147484234" r:id="rId4"/>
    <p:sldLayoutId id="2147484235" r:id="rId5"/>
    <p:sldLayoutId id="2147484236" r:id="rId6"/>
    <p:sldLayoutId id="2147484237" r:id="rId7"/>
    <p:sldLayoutId id="2147484238" r:id="rId8"/>
    <p:sldLayoutId id="2147484239" r:id="rId9"/>
    <p:sldLayoutId id="2147484240" r:id="rId10"/>
    <p:sldLayoutId id="2147484241" r:id="rId11"/>
  </p:sldLayoutIdLst>
  <p:transition spd="slow">
    <p:blinds dir="vert"/>
  </p:transition>
  <p:hf hdr="0" ftr="0" dt="0"/>
  <p:txStyles>
    <p:titleStyle>
      <a:lvl1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2pPr>
      <a:lvl3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3pPr>
      <a:lvl4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4pPr>
      <a:lvl5pPr algn="l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5pPr>
      <a:lvl6pPr marL="4572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6pPr>
      <a:lvl7pPr marL="9144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7pPr>
      <a:lvl8pPr marL="13716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8pPr>
      <a:lvl9pPr marL="1828800" algn="l" rtl="0" fontAlgn="base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 Light" panose="020F0302020204030204" pitchFamily="34" charset="0"/>
        </a:defRPr>
      </a:lvl9pPr>
    </p:titleStyle>
    <p:bodyStyle>
      <a:lvl1pPr marL="228600" indent="-228600" algn="l" rtl="0" eaLnBrk="0" fontAlgn="base" hangingPunct="0">
        <a:lnSpc>
          <a:spcPct val="90000"/>
        </a:lnSpc>
        <a:spcBef>
          <a:spcPts val="1000"/>
        </a:spcBef>
        <a:spcAft>
          <a:spcPct val="0"/>
        </a:spcAft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lnSpc>
          <a:spcPct val="90000"/>
        </a:lnSpc>
        <a:spcBef>
          <a:spcPts val="500"/>
        </a:spcBef>
        <a:spcAft>
          <a:spcPct val="0"/>
        </a:spcAft>
        <a:buFont typeface="Arial" panose="020B0604020202020204" pitchFamily="34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3"/>
          <p:cNvSpPr txBox="1"/>
          <p:nvPr/>
        </p:nvSpPr>
        <p:spPr>
          <a:xfrm>
            <a:off x="6525369" y="2109718"/>
            <a:ext cx="5514300" cy="20205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Under the </a:t>
            </a:r>
            <a:r>
              <a:rPr lang="en-GB" sz="2000" b="1" i="0" u="none" strike="noStrike" cap="none" dirty="0">
                <a:solidFill>
                  <a:schemeClr val="accent2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Supervision</a:t>
            </a:r>
            <a:r>
              <a:rPr lang="en-GB" sz="20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of,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ctr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Mr.</a:t>
            </a:r>
            <a:r>
              <a:rPr lang="en-GB" sz="1700" b="1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Aadil Firooz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School of Computer Science and Engineering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340"/>
              </a:spcBef>
              <a:spcAft>
                <a:spcPts val="0"/>
              </a:spcAft>
              <a:buClr>
                <a:srgbClr val="17365D"/>
              </a:buClr>
              <a:buSzPts val="1700"/>
              <a:buFont typeface="Arial"/>
              <a:buNone/>
            </a:pPr>
            <a:r>
              <a:rPr lang="en-GB" sz="1700" b="1" i="0" u="none" strike="noStrike" cap="none" dirty="0">
                <a:solidFill>
                  <a:srgbClr val="17365D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Presidency University</a:t>
            </a:r>
            <a:endParaRPr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0" marR="0" lvl="0" indent="0" algn="l" rtl="0">
              <a:spcBef>
                <a:spcPts val="400"/>
              </a:spcBef>
              <a:spcAft>
                <a:spcPts val="0"/>
              </a:spcAft>
              <a:buClr>
                <a:srgbClr val="17365D"/>
              </a:buClr>
              <a:buSzPts val="2000"/>
              <a:buFont typeface="Arial"/>
              <a:buNone/>
            </a:pPr>
            <a:endParaRPr sz="2000" b="1" i="0" u="none" strike="noStrike" cap="none" dirty="0">
              <a:solidFill>
                <a:srgbClr val="17365D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8" name="Google Shape;91;p13"/>
          <p:cNvSpPr txBox="1"/>
          <p:nvPr/>
        </p:nvSpPr>
        <p:spPr>
          <a:xfrm>
            <a:off x="91065" y="3991054"/>
            <a:ext cx="12009870" cy="14630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B. Tech (CSE)</a:t>
            </a:r>
          </a:p>
          <a:p>
            <a:pPr marL="0" marR="0" lvl="0" indent="0" rt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  <a:buFont typeface="Arial"/>
              <a:buNone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HoD: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</a:t>
            </a: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Nagaraja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S R</a:t>
            </a:r>
          </a:p>
          <a:p>
            <a:pPr lvl="0"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ct val="100000"/>
            </a:pPr>
            <a:r>
              <a:rPr lang="en-US" sz="2000" b="1" i="0" u="none" strike="noStrike" cap="none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Program Internship Coordinator: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Ms.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Vidhya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 </a:t>
            </a:r>
            <a:r>
              <a:rPr lang="en-US" sz="2000" b="1" dirty="0" err="1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Rengasamy</a:t>
            </a:r>
            <a:endParaRPr lang="en-US" sz="2000" b="1" dirty="0"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  <a:p>
            <a:pPr lvl="0">
              <a:buClr>
                <a:srgbClr val="17365D"/>
              </a:buClr>
              <a:buSzPct val="100000"/>
            </a:pPr>
            <a:r>
              <a:rPr lang="en-US" sz="2000" b="1" dirty="0">
                <a:solidFill>
                  <a:schemeClr val="accent1"/>
                </a:solidFill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Name of the School Internship Coordinators: </a:t>
            </a:r>
            <a:r>
              <a:rPr lang="en-US" sz="2000" b="1" dirty="0">
                <a:latin typeface="Cambria" panose="02040503050406030204" pitchFamily="18" charset="0"/>
                <a:ea typeface="Cambria" panose="02040503050406030204" pitchFamily="18" charset="0"/>
                <a:cs typeface="Verdana"/>
                <a:sym typeface="Verdana"/>
              </a:rPr>
              <a:t>Dr. Bhuvaneshwari Patil										</a:t>
            </a:r>
            <a:endParaRPr sz="2000" b="1" i="0" u="none" strike="noStrike" cap="none" dirty="0">
              <a:solidFill>
                <a:schemeClr val="tx1"/>
              </a:solidFill>
              <a:latin typeface="Cambria" panose="02040503050406030204" pitchFamily="18" charset="0"/>
              <a:ea typeface="Cambria" panose="02040503050406030204" pitchFamily="18" charset="0"/>
              <a:cs typeface="Verdana"/>
              <a:sym typeface="Verdana"/>
            </a:endParaRP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38200" y="130629"/>
            <a:ext cx="10515600" cy="15600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7365D"/>
              </a:buClr>
              <a:buSzPts val="2800"/>
              <a:buFont typeface="Verdana"/>
              <a:buNone/>
              <a:defRPr sz="2800" b="1" i="0" u="none" strike="noStrike" cap="none">
                <a:solidFill>
                  <a:srgbClr val="17365D"/>
                </a:solidFill>
                <a:latin typeface="Verdana"/>
                <a:ea typeface="Verdana"/>
                <a:cs typeface="Verdana"/>
                <a:sym typeface="Verdana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altLang="en-US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CSE7000 - INTERNSHIP</a:t>
            </a:r>
            <a:b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Presentation on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r>
              <a:rPr lang="en-US" sz="2400" dirty="0" err="1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SmartTrip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  <a:t> AI: Best tourist recommendation guide</a:t>
            </a:r>
            <a:b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ea typeface="Tahoma" pitchFamily="34" charset="0"/>
                <a:cs typeface="Times New Roman" panose="02020603050405020304" pitchFamily="18" charset="0"/>
              </a:rPr>
            </a:b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9959207"/>
              </p:ext>
            </p:extLst>
          </p:nvPr>
        </p:nvGraphicFramePr>
        <p:xfrm>
          <a:off x="601909" y="1911875"/>
          <a:ext cx="4884491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270">
                  <a:extLst>
                    <a:ext uri="{9D8B030D-6E8A-4147-A177-3AD203B41FA5}">
                      <a16:colId xmlns:a16="http://schemas.microsoft.com/office/drawing/2014/main" val="2689928737"/>
                    </a:ext>
                  </a:extLst>
                </a:gridCol>
                <a:gridCol w="3513221">
                  <a:extLst>
                    <a:ext uri="{9D8B030D-6E8A-4147-A177-3AD203B41FA5}">
                      <a16:colId xmlns:a16="http://schemas.microsoft.com/office/drawing/2014/main" val="3965538731"/>
                    </a:ext>
                  </a:extLst>
                </a:gridCol>
              </a:tblGrid>
              <a:tr h="36226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Student Details</a:t>
                      </a: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6510531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E Vidya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3540802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Roll 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20241CSE1084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5509489"/>
                  </a:ext>
                </a:extLst>
              </a:tr>
              <a:tr h="362263">
                <a:tc>
                  <a:txBody>
                    <a:bodyPr/>
                    <a:lstStyle/>
                    <a:p>
                      <a:pPr algn="l"/>
                      <a:r>
                        <a:rPr lang="en-US" b="1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Section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>
                          <a:latin typeface="Cambria" panose="02040503050406030204" pitchFamily="18" charset="0"/>
                          <a:ea typeface="Cambria" panose="02040503050406030204" pitchFamily="18" charset="0"/>
                          <a:cs typeface="Times New Roman" panose="02020603050405020304" pitchFamily="18" charset="0"/>
                        </a:rPr>
                        <a:t>5CSE01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26818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90239800"/>
      </p:ext>
    </p:extLst>
  </p:cSld>
  <p:clrMapOvr>
    <a:masterClrMapping/>
  </p:clrMapOvr>
  <p:transition spd="slow">
    <p:blinds dir="vert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679904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About Company or Organization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21133"/>
            <a:ext cx="10515600" cy="4117073"/>
          </a:xfrm>
        </p:spPr>
        <p:txBody>
          <a:bodyPr/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AI GPU Summer Internship Program (Summer 2026) at Presidency University.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This elite training track is organized by the Presidency School of Artificial Intelligence and Advanced Computing 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directly collaborated with NVIDIA Accelerated AI Centre of Excellence</a:t>
            </a:r>
          </a:p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Focuses on Machine Learning, Deep Learning, LLMs &amp; Generative AI</a:t>
            </a:r>
          </a:p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6428933"/>
      </p:ext>
    </p:extLst>
  </p:cSld>
  <p:clrMapOvr>
    <a:masterClrMapping/>
  </p:clrMapOvr>
  <p:transition spd="slow">
    <p:blinds dir="vert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domain or the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marL="0" indent="0" algn="just">
              <a:buNone/>
            </a:pPr>
            <a:r>
              <a:rPr lang="fr-FR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Artificial</a:t>
            </a: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Intelligence &amp; GPU </a:t>
            </a:r>
            <a:r>
              <a:rPr lang="fr-FR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Computing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High-performance GPU acceleration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AI model training and inference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Hands-on coding with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&amp; Hugging Face</a:t>
            </a:r>
            <a:endParaRPr lang="fr-F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3887700"/>
      </p:ext>
    </p:extLst>
  </p:cSld>
  <p:clrMapOvr>
    <a:masterClrMapping/>
  </p:clrMapOvr>
  <p:transition spd="slow">
    <p:blinds dir="vert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 of the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Developed an AI-powered tourism planning and recommendation system.</a:t>
            </a:r>
          </a:p>
          <a:p>
            <a:pPr algn="just"/>
            <a:r>
              <a:rPr lang="en-IN" dirty="0"/>
              <a:t>To reduce the time and effort involved in planning trips </a:t>
            </a:r>
          </a:p>
          <a:p>
            <a:pPr algn="just"/>
            <a:r>
              <a:rPr lang="en-IN" dirty="0"/>
              <a:t>To recommend tourist attractions based on users interests </a:t>
            </a:r>
          </a:p>
          <a:p>
            <a:pPr algn="just"/>
            <a:r>
              <a:rPr lang="en-IN" dirty="0"/>
              <a:t>It includes destination, hotel, and budget planning into a single application</a:t>
            </a:r>
          </a:p>
          <a:p>
            <a:pPr algn="just"/>
            <a:r>
              <a:rPr lang="en-IN" dirty="0"/>
              <a:t>To generate efficient day-wise travel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32951823"/>
      </p:ext>
    </p:extLst>
  </p:cSld>
  <p:clrMapOvr>
    <a:masterClrMapping/>
  </p:clrMapOvr>
  <p:transition spd="slow">
    <p:blinds dir="vert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19241"/>
          </a:xfrm>
        </p:spPr>
        <p:txBody>
          <a:bodyPr/>
          <a:lstStyle/>
          <a:p>
            <a:r>
              <a:rPr lang="en-IN" sz="3200" b="1" dirty="0">
                <a:solidFill>
                  <a:schemeClr val="accent1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Used / Course Description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1184367"/>
            <a:ext cx="10515600" cy="4058194"/>
          </a:xfrm>
        </p:spPr>
        <p:txBody>
          <a:bodyPr/>
          <a:lstStyle/>
          <a:p>
            <a:pPr algn="just"/>
            <a:r>
              <a:rPr lang="en-IN" dirty="0"/>
              <a:t>Collected and integrated tourism and hotel dataset</a:t>
            </a:r>
          </a:p>
          <a:p>
            <a:pPr algn="just"/>
            <a:r>
              <a:rPr lang="en-IN" dirty="0"/>
              <a:t>Datasets used are places.csv, Top Indian Places to Visit.csv, Top Indian Places to Visit.csv, hotel_details_clean.csv </a:t>
            </a:r>
          </a:p>
          <a:p>
            <a:pPr algn="just"/>
            <a:r>
              <a:rPr lang="en-IN" dirty="0"/>
              <a:t>Performed data cleaning and preprocessing </a:t>
            </a:r>
          </a:p>
          <a:p>
            <a:pPr algn="just"/>
            <a:r>
              <a:rPr lang="en-IN" dirty="0"/>
              <a:t>Generated text embeddings using the </a:t>
            </a:r>
            <a:r>
              <a:rPr lang="en-IN" b="1" dirty="0"/>
              <a:t>all-MiniLM-L6-v2</a:t>
            </a:r>
            <a:r>
              <a:rPr lang="en-IN" dirty="0"/>
              <a:t> Transformer model</a:t>
            </a:r>
          </a:p>
          <a:p>
            <a:pPr algn="just"/>
            <a:r>
              <a:rPr lang="en-IN" dirty="0"/>
              <a:t>Built an interactive web application using </a:t>
            </a:r>
            <a:r>
              <a:rPr lang="en-IN" b="1" dirty="0" err="1"/>
              <a:t>Streamlit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3958729"/>
      </p:ext>
    </p:extLst>
  </p:cSld>
  <p:clrMapOvr>
    <a:masterClrMapping/>
  </p:clrMapOvr>
  <p:transition spd="slow">
    <p:blinds dir="vert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6</a:t>
            </a:fld>
            <a:endParaRPr lang="en-US" altLang="en-US"/>
          </a:p>
        </p:txBody>
      </p:sp>
      <p:pic>
        <p:nvPicPr>
          <p:cNvPr id="12" name="Content Placeholder 11">
            <a:extLst>
              <a:ext uri="{FF2B5EF4-FFF2-40B4-BE49-F238E27FC236}">
                <a16:creationId xmlns:a16="http://schemas.microsoft.com/office/drawing/2014/main" id="{55B587A8-06D5-BD64-A78F-B7C447DC9DF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431"/>
          <a:stretch>
            <a:fillRect/>
          </a:stretch>
        </p:blipFill>
        <p:spPr>
          <a:xfrm>
            <a:off x="2752930" y="847614"/>
            <a:ext cx="7392934" cy="4351338"/>
          </a:xfrm>
        </p:spPr>
      </p:pic>
    </p:spTree>
    <p:extLst>
      <p:ext uri="{BB962C8B-B14F-4D97-AF65-F5344CB8AC3E}">
        <p14:creationId xmlns:p14="http://schemas.microsoft.com/office/powerpoint/2010/main" val="1163375810"/>
      </p:ext>
    </p:extLst>
  </p:cSld>
  <p:clrMapOvr>
    <a:masterClrMapping/>
  </p:clrMapOvr>
  <p:transition spd="slow">
    <p:blinds dir="vert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2E05BF-15B6-358C-9423-BCF405A9B5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7BF3C0-B647-2A81-F03D-F1831465CA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6123E2D-C816-B7D2-FD2A-24DA09002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7</a:t>
            </a:fld>
            <a:endParaRPr lang="en-US" altLang="en-US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7C459BF6-010C-19A3-3E4C-FCEB0497E05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" r="3549" b="3119"/>
          <a:stretch>
            <a:fillRect/>
          </a:stretch>
        </p:blipFill>
        <p:spPr>
          <a:xfrm>
            <a:off x="2628150" y="961436"/>
            <a:ext cx="7780107" cy="4198961"/>
          </a:xfrm>
        </p:spPr>
      </p:pic>
    </p:spTree>
    <p:extLst>
      <p:ext uri="{BB962C8B-B14F-4D97-AF65-F5344CB8AC3E}">
        <p14:creationId xmlns:p14="http://schemas.microsoft.com/office/powerpoint/2010/main" val="1116973085"/>
      </p:ext>
    </p:extLst>
  </p:cSld>
  <p:clrMapOvr>
    <a:masterClrMapping/>
  </p:clrMapOvr>
  <p:transition spd="slow">
    <p:blinds dir="vert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96311"/>
          </a:xfrm>
        </p:spPr>
        <p:txBody>
          <a:bodyPr/>
          <a:lstStyle/>
          <a:p>
            <a:r>
              <a:rPr lang="en-US" sz="32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8</a:t>
            </a:fld>
            <a:endParaRPr lang="en-US" alt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6308" y="1061297"/>
            <a:ext cx="10515600" cy="4351338"/>
          </a:xfrm>
        </p:spPr>
        <p:txBody>
          <a:bodyPr/>
          <a:lstStyle/>
          <a:p>
            <a:r>
              <a:rPr lang="en-US" dirty="0"/>
              <a:t>Developed a user-friendly AI-based tourism planning application</a:t>
            </a:r>
          </a:p>
          <a:p>
            <a:r>
              <a:rPr lang="en-US" dirty="0"/>
              <a:t>The project highlights the practical application of AI in solving real-world travel planning challenges</a:t>
            </a:r>
          </a:p>
          <a:p>
            <a:r>
              <a:rPr lang="en-US" dirty="0"/>
              <a:t>This project demonstrates how technology can make tourism more accessible, efficient, and user-centric.</a:t>
            </a:r>
          </a:p>
          <a:p>
            <a:r>
              <a:rPr lang="en-US" dirty="0"/>
              <a:t>This project has the potential to enhance tourism experiences and can be further expanded into a real-world travel assistant.</a:t>
            </a:r>
          </a:p>
        </p:txBody>
      </p:sp>
    </p:spTree>
    <p:extLst>
      <p:ext uri="{BB962C8B-B14F-4D97-AF65-F5344CB8AC3E}">
        <p14:creationId xmlns:p14="http://schemas.microsoft.com/office/powerpoint/2010/main" val="3437392139"/>
      </p:ext>
    </p:extLst>
  </p:cSld>
  <p:clrMapOvr>
    <a:masterClrMapping/>
  </p:clrMapOvr>
  <p:transition spd="slow">
    <p:blinds dir="vert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12192000" cy="6858000"/>
          </a:xfrm>
          <a:solidFill>
            <a:schemeClr val="accent1">
              <a:lumMod val="50000"/>
            </a:schemeClr>
          </a:solidFill>
        </p:spPr>
        <p:txBody>
          <a:bodyPr/>
          <a:lstStyle/>
          <a:p>
            <a:pPr marL="0" indent="0" algn="ctr">
              <a:buNone/>
            </a:pPr>
            <a:endParaRPr lang="en-US" sz="6600" dirty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ctr">
              <a:buNone/>
            </a:pPr>
            <a:r>
              <a:rPr lang="en-US" sz="6600" dirty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en-US" sz="6600" dirty="0">
                <a:solidFill>
                  <a:schemeClr val="accent2">
                    <a:lumMod val="40000"/>
                    <a:lumOff val="6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Q&amp;A</a:t>
            </a:r>
          </a:p>
          <a:p>
            <a:pPr marL="0" indent="0" algn="ctr">
              <a:buNone/>
            </a:pPr>
            <a:endParaRPr lang="en-US" sz="6600" dirty="0">
              <a:solidFill>
                <a:srgbClr val="A7118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>
                <a:latin typeface="Times New Roman" panose="02020603050405020304" pitchFamily="18" charset="0"/>
                <a:cs typeface="Times New Roman" panose="02020603050405020304" pitchFamily="18" charset="0"/>
              </a:rPr>
              <a:pPr>
                <a:defRPr/>
              </a:pPr>
              <a:t>9</a:t>
            </a:fld>
            <a:endParaRPr lang="en-US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7" descr="bd04924_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05253" y="2150340"/>
            <a:ext cx="2841170" cy="38324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975439"/>
      </p:ext>
    </p:extLst>
  </p:cSld>
  <p:clrMapOvr>
    <a:masterClrMapping/>
  </p:clrMapOvr>
  <p:transition spd="slow">
    <p:blinds dir="vert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547258"/>
            <a:ext cx="10515600" cy="1214846"/>
          </a:xfrm>
        </p:spPr>
        <p:txBody>
          <a:bodyPr/>
          <a:lstStyle/>
          <a:p>
            <a:pPr marL="0" indent="0" algn="ctr">
              <a:buNone/>
            </a:pPr>
            <a:r>
              <a:rPr lang="en-US" sz="6600" dirty="0">
                <a:solidFill>
                  <a:srgbClr val="A7118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Thank you !!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815EC703-C051-410C-8BA1-62752E291E83}" type="slidenum">
              <a:rPr lang="en-US" altLang="en-US" smtClean="0"/>
              <a:pPr>
                <a:defRPr/>
              </a:pPr>
              <a:t>10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98440382"/>
      </p:ext>
    </p:extLst>
  </p:cSld>
  <p:clrMapOvr>
    <a:masterClrMapping/>
  </p:clrMapOvr>
  <p:transition spd="slow">
    <p:blinds dir="vert"/>
  </p:transition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7921</TotalTime>
  <Words>372</Words>
  <Application>Microsoft Office PowerPoint</Application>
  <PresentationFormat>Widescreen</PresentationFormat>
  <Paragraphs>59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Cambria</vt:lpstr>
      <vt:lpstr>Times New Roman</vt:lpstr>
      <vt:lpstr>Office Theme</vt:lpstr>
      <vt:lpstr>PowerPoint Presentation</vt:lpstr>
      <vt:lpstr>About Company or Organization</vt:lpstr>
      <vt:lpstr>Working domain or the technology</vt:lpstr>
      <vt:lpstr>Objectives of the work</vt:lpstr>
      <vt:lpstr>Methodology Used / Course Description </vt:lpstr>
      <vt:lpstr>Results</vt:lpstr>
      <vt:lpstr>Results</vt:lpstr>
      <vt:lpstr>Conclusion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Preeteesh</dc:creator>
  <cp:lastModifiedBy>DivyaSree Baddipudi</cp:lastModifiedBy>
  <cp:revision>945</cp:revision>
  <cp:lastPrinted>2018-07-24T06:37:20Z</cp:lastPrinted>
  <dcterms:created xsi:type="dcterms:W3CDTF">2018-06-07T04:06:17Z</dcterms:created>
  <dcterms:modified xsi:type="dcterms:W3CDTF">2026-08-07T17:26:57Z</dcterms:modified>
</cp:coreProperties>
</file>